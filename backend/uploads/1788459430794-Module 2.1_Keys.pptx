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84" r:id="rId9"/>
    <p:sldId id="283" r:id="rId10"/>
    <p:sldId id="264" r:id="rId11"/>
    <p:sldId id="282" r:id="rId12"/>
    <p:sldId id="263" r:id="rId13"/>
    <p:sldId id="285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89" r:id="rId22"/>
    <p:sldId id="286" r:id="rId23"/>
    <p:sldId id="287" r:id="rId24"/>
    <p:sldId id="288" r:id="rId25"/>
    <p:sldId id="272" r:id="rId26"/>
    <p:sldId id="281" r:id="rId27"/>
    <p:sldId id="275" r:id="rId28"/>
    <p:sldId id="290" r:id="rId29"/>
    <p:sldId id="291" r:id="rId30"/>
    <p:sldId id="276" r:id="rId31"/>
    <p:sldId id="277" r:id="rId32"/>
    <p:sldId id="278" r:id="rId33"/>
    <p:sldId id="280" r:id="rId34"/>
    <p:sldId id="292" r:id="rId35"/>
    <p:sldId id="298" r:id="rId36"/>
    <p:sldId id="295" r:id="rId37"/>
    <p:sldId id="293" r:id="rId38"/>
    <p:sldId id="296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62090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5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754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90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770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00812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166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427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61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214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900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BEE5D-6E0D-499C-A7BF-5E40B58C3E4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BB7BDB-CDEE-49CF-9173-ED068C675E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268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mailto:jane@example.com" TargetMode="External"/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mailto:jane@example.com" TargetMode="External"/><Relationship Id="rId2" Type="http://schemas.openxmlformats.org/officeDocument/2006/relationships/hyperlink" Target="mailto:john@example.com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MODULE - 2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400" dirty="0" smtClean="0"/>
              <a:t>Relational Model : Keys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2521381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Keys in Relational Database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9309"/>
            <a:ext cx="10515600" cy="4777654"/>
          </a:xfrm>
        </p:spPr>
        <p:txBody>
          <a:bodyPr>
            <a:noAutofit/>
          </a:bodyPr>
          <a:lstStyle/>
          <a:p>
            <a:pPr algn="just" fontAlgn="base"/>
            <a:r>
              <a:rPr lang="en-US" sz="3200" dirty="0"/>
              <a:t>In the context of a relational database, </a:t>
            </a:r>
            <a:r>
              <a:rPr lang="en-US" sz="3200" dirty="0">
                <a:solidFill>
                  <a:srgbClr val="FF0000"/>
                </a:solidFill>
              </a:rPr>
              <a:t>Keys</a:t>
            </a:r>
            <a:r>
              <a:rPr lang="en-US" sz="3200" dirty="0"/>
              <a:t> are one of the basic requirements of a relational database model. </a:t>
            </a:r>
            <a:endParaRPr lang="en-US" sz="3200" dirty="0" smtClean="0"/>
          </a:p>
          <a:p>
            <a:pPr algn="just" fontAlgn="base"/>
            <a:r>
              <a:rPr lang="en-US" sz="3200" dirty="0" smtClean="0"/>
              <a:t>keys </a:t>
            </a:r>
            <a:r>
              <a:rPr lang="en-US" sz="3200" dirty="0"/>
              <a:t>are fundamental components that ensure </a:t>
            </a:r>
            <a:r>
              <a:rPr lang="en-US" sz="3200" dirty="0">
                <a:solidFill>
                  <a:srgbClr val="FF0000"/>
                </a:solidFill>
              </a:rPr>
              <a:t>data integrity, uniqueness and efficient access</a:t>
            </a:r>
            <a:r>
              <a:rPr lang="en-US" sz="3200" dirty="0"/>
              <a:t>. </a:t>
            </a:r>
            <a:endParaRPr lang="en-US" sz="3200" dirty="0" smtClean="0"/>
          </a:p>
          <a:p>
            <a:pPr algn="just" fontAlgn="base"/>
            <a:r>
              <a:rPr lang="en-US" sz="3200" dirty="0" smtClean="0"/>
              <a:t>It </a:t>
            </a:r>
            <a:r>
              <a:rPr lang="en-US" sz="3200" dirty="0"/>
              <a:t>is widely used to </a:t>
            </a:r>
            <a:r>
              <a:rPr lang="en-US" sz="3200" dirty="0">
                <a:solidFill>
                  <a:srgbClr val="FF0000"/>
                </a:solidFill>
              </a:rPr>
              <a:t>identify the tuples(rows) uniquely in the table. </a:t>
            </a:r>
            <a:endParaRPr lang="en-US" sz="3200" dirty="0" smtClean="0">
              <a:solidFill>
                <a:srgbClr val="FF0000"/>
              </a:solidFill>
            </a:endParaRPr>
          </a:p>
          <a:p>
            <a:pPr algn="just" fontAlgn="base"/>
            <a:r>
              <a:rPr lang="en-US" sz="3200" dirty="0" smtClean="0"/>
              <a:t>To </a:t>
            </a:r>
            <a:r>
              <a:rPr lang="en-US" sz="3200" dirty="0"/>
              <a:t>set up relations amongst various columns and tables of a relational database.</a:t>
            </a:r>
          </a:p>
          <a:p>
            <a:pPr marL="0" indent="0" algn="just">
              <a:buNone/>
            </a:pP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4843391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1819" y="669274"/>
            <a:ext cx="10672763" cy="532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4411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Significance of Keys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/>
          <a:lstStyle/>
          <a:p>
            <a:pPr algn="just" fontAlgn="base"/>
            <a:r>
              <a:rPr lang="en-US" dirty="0">
                <a:solidFill>
                  <a:srgbClr val="FF0000"/>
                </a:solidFill>
              </a:rPr>
              <a:t>Uniqueness</a:t>
            </a:r>
            <a:r>
              <a:rPr lang="en-US" dirty="0"/>
              <a:t>: Keys ensure that each record in a table is unique and can be identified distinctly.</a:t>
            </a:r>
          </a:p>
          <a:p>
            <a:pPr algn="just" fontAlgn="base"/>
            <a:r>
              <a:rPr lang="en-US" dirty="0">
                <a:solidFill>
                  <a:srgbClr val="FF0000"/>
                </a:solidFill>
              </a:rPr>
              <a:t>Data Integrity</a:t>
            </a:r>
            <a:r>
              <a:rPr lang="en-US" dirty="0"/>
              <a:t>: Keys prevent data duplication and maintain the consistency of the data.</a:t>
            </a:r>
          </a:p>
          <a:p>
            <a:pPr algn="just" fontAlgn="base"/>
            <a:r>
              <a:rPr lang="en-US" dirty="0">
                <a:solidFill>
                  <a:srgbClr val="FF0000"/>
                </a:solidFill>
              </a:rPr>
              <a:t>Efficient Data Retrieval</a:t>
            </a:r>
            <a:r>
              <a:rPr lang="en-US" dirty="0"/>
              <a:t>: By defining relationships between tables, keys enable faster querying and better data organization. </a:t>
            </a:r>
            <a:endParaRPr lang="en-US" dirty="0" smtClean="0"/>
          </a:p>
          <a:p>
            <a:pPr algn="just" fontAlgn="base"/>
            <a:endParaRPr lang="en-US" dirty="0"/>
          </a:p>
          <a:p>
            <a:pPr marL="0" indent="0" algn="just" fontAlgn="base">
              <a:buNone/>
            </a:pPr>
            <a:r>
              <a:rPr lang="en-US" i="1" dirty="0" smtClean="0"/>
              <a:t>Without </a:t>
            </a:r>
            <a:r>
              <a:rPr lang="en-US" i="1" dirty="0"/>
              <a:t>keys, it would be extremely difficult to manage large datasets and queries would become inefficient and prone to errors.</a:t>
            </a:r>
          </a:p>
          <a:p>
            <a:pPr marL="0" indent="0" algn="just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594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1. Super </a:t>
            </a:r>
            <a:r>
              <a:rPr lang="en-US" b="1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The set of one or more attributes (columns) that can uniquely identify a tuple (record) is known as Super Key.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801092" y="3341546"/>
            <a:ext cx="955270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/>
              <a:t>CREATE TABLE Student (</a:t>
            </a:r>
          </a:p>
          <a:p>
            <a:r>
              <a:rPr lang="en-US" sz="3200" dirty="0"/>
              <a:t>    </a:t>
            </a:r>
            <a:r>
              <a:rPr lang="en-US" sz="3200" dirty="0" err="1"/>
              <a:t>RegNo</a:t>
            </a:r>
            <a:r>
              <a:rPr lang="en-US" sz="3200" dirty="0"/>
              <a:t> </a:t>
            </a:r>
            <a:r>
              <a:rPr lang="en-US" sz="3200" dirty="0" smtClean="0"/>
              <a:t>INT,</a:t>
            </a:r>
            <a:endParaRPr lang="en-US" sz="3200" dirty="0"/>
          </a:p>
          <a:p>
            <a:r>
              <a:rPr lang="en-US" sz="3200" dirty="0"/>
              <a:t>    Email VARCHAR(100),</a:t>
            </a:r>
          </a:p>
          <a:p>
            <a:r>
              <a:rPr lang="en-US" sz="3200" dirty="0"/>
              <a:t>    Name VARCHAR(50),</a:t>
            </a:r>
          </a:p>
          <a:p>
            <a:r>
              <a:rPr lang="en-US" sz="3200" dirty="0"/>
              <a:t>    UNIQUE (Email, Name)</a:t>
            </a:r>
          </a:p>
          <a:p>
            <a:r>
              <a:rPr lang="en-US" sz="3200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314301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2. Candidate </a:t>
            </a:r>
            <a:r>
              <a:rPr lang="en-US" b="1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minimal set of attributes that can uniquely identify a tuple is known as a candidate key. </a:t>
            </a:r>
          </a:p>
          <a:p>
            <a:r>
              <a:rPr lang="en-US" dirty="0" smtClean="0"/>
              <a:t>Must possess </a:t>
            </a:r>
            <a:r>
              <a:rPr lang="en-US" dirty="0" err="1" smtClean="0">
                <a:solidFill>
                  <a:srgbClr val="FF0000"/>
                </a:solidFill>
              </a:rPr>
              <a:t>atleast</a:t>
            </a:r>
            <a:r>
              <a:rPr lang="en-US" dirty="0" smtClean="0">
                <a:solidFill>
                  <a:srgbClr val="FF0000"/>
                </a:solidFill>
              </a:rPr>
              <a:t> one unique key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0822183"/>
              </p:ext>
            </p:extLst>
          </p:nvPr>
        </p:nvGraphicFramePr>
        <p:xfrm>
          <a:off x="838200" y="3452654"/>
          <a:ext cx="10515600" cy="240792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800" dirty="0" err="1" smtClean="0"/>
                        <a:t>StudentID</a:t>
                      </a:r>
                      <a:r>
                        <a:rPr lang="en-US" sz="2800" dirty="0" smtClean="0"/>
                        <a:t>(PK)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Email(UNIQUE)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Phone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hlinkClick r:id="rId2"/>
                        </a:rPr>
                        <a:t>john@example.com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1234567890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John Doe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>
                          <a:hlinkClick r:id="rId3"/>
                        </a:rPr>
                        <a:t>jane@example.com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9876543210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Jane Smith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46173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Guess the answer!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Candidate Keys: _________________________</a:t>
            </a:r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972487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Guess the answer!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Candidate Keys: {</a:t>
            </a:r>
            <a:r>
              <a:rPr lang="en-US" sz="3600" dirty="0" err="1"/>
              <a:t>EmpID</a:t>
            </a:r>
            <a:r>
              <a:rPr lang="en-US" sz="3600" dirty="0" smtClean="0"/>
              <a:t>}, {Email}</a:t>
            </a:r>
          </a:p>
          <a:p>
            <a:r>
              <a:rPr lang="en-US" sz="3600" dirty="0" smtClean="0"/>
              <a:t>Super Keys: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{</a:t>
            </a:r>
            <a:r>
              <a:rPr lang="en-US" sz="3200" dirty="0" err="1"/>
              <a:t>EmpID</a:t>
            </a:r>
            <a:r>
              <a:rPr lang="en-US" sz="3200" dirty="0"/>
              <a:t>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/>
              <a:t>Email</a:t>
            </a:r>
            <a:r>
              <a:rPr lang="en-US" sz="3200" dirty="0" smtClean="0"/>
              <a:t>},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 err="1"/>
              <a:t>EmpID</a:t>
            </a:r>
            <a:r>
              <a:rPr lang="en-US" sz="3200" dirty="0"/>
              <a:t>, Name},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/>
              <a:t>Email, Name},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 err="1"/>
              <a:t>EmpID</a:t>
            </a:r>
            <a:r>
              <a:rPr lang="en-US" sz="3200" dirty="0"/>
              <a:t>, Email}, etc.</a:t>
            </a:r>
            <a:endParaRPr lang="en-US" sz="3200" dirty="0" smtClean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007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Points to Recall!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7"/>
            <a:ext cx="10661073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Candidate keys are the minimal super keys.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Candidate keys are the minimal set of attributes that uniquely identify each tuple (row) in a relation.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dirty="0" smtClean="0">
                <a:ea typeface="Tahoma" panose="020B0604030504040204" pitchFamily="34" charset="0"/>
                <a:cs typeface="Tahoma" panose="020B0604030504040204" pitchFamily="34" charset="0"/>
              </a:rPr>
              <a:t>Note:</a:t>
            </a:r>
            <a:endParaRPr lang="en-US" altLang="en-US" dirty="0"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ahoma" panose="020B0604030504040204" pitchFamily="34" charset="0"/>
                <a:cs typeface="Tahoma" panose="020B0604030504040204" pitchFamily="34" charset="0"/>
              </a:rPr>
              <a:t>Every candidate key is a super key, but not every super key is a candidate key.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544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3. Primary </a:t>
            </a:r>
            <a:r>
              <a:rPr lang="en-US" b="1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primary key is a unique key, meaning it can uniquely identify each record (tuple) in a table.</a:t>
            </a:r>
          </a:p>
          <a:p>
            <a:pPr algn="just" fontAlgn="base"/>
            <a:r>
              <a:rPr lang="en-US" dirty="0"/>
              <a:t>It must have unique values and cannot contain any duplicate values.</a:t>
            </a:r>
          </a:p>
          <a:p>
            <a:pPr algn="just" fontAlgn="base"/>
            <a:r>
              <a:rPr lang="en-US" dirty="0"/>
              <a:t>A primary key cannot be </a:t>
            </a:r>
            <a:r>
              <a:rPr lang="en-US" dirty="0" smtClean="0"/>
              <a:t>NULL</a:t>
            </a:r>
            <a:endParaRPr lang="en-US" dirty="0"/>
          </a:p>
          <a:p>
            <a:pPr marL="0" indent="0" algn="just" fontAlgn="base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4894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Primary Key → Implemented using PRIMARY </a:t>
            </a:r>
            <a:r>
              <a:rPr lang="en-US" sz="3600" dirty="0" smtClean="0"/>
              <a:t>KEY</a:t>
            </a:r>
          </a:p>
          <a:p>
            <a:r>
              <a:rPr lang="en-US" sz="3600" dirty="0" smtClean="0"/>
              <a:t>Candidate </a:t>
            </a:r>
            <a:r>
              <a:rPr lang="en-US" sz="3600" dirty="0"/>
              <a:t>Key → Implemented using PRIMARY KEY or </a:t>
            </a:r>
            <a:r>
              <a:rPr lang="en-US" sz="3600" dirty="0" smtClean="0"/>
              <a:t>UNIQUE</a:t>
            </a:r>
          </a:p>
          <a:p>
            <a:r>
              <a:rPr lang="en-US" sz="3600" dirty="0" smtClean="0"/>
              <a:t>Super </a:t>
            </a:r>
            <a:r>
              <a:rPr lang="en-US" sz="3600" dirty="0"/>
              <a:t>Key → Any set of attributes that uniquely identifies a row. There is no separate SQL syntax for defining a super key.</a:t>
            </a:r>
          </a:p>
        </p:txBody>
      </p:sp>
    </p:spTree>
    <p:extLst>
      <p:ext uri="{BB962C8B-B14F-4D97-AF65-F5344CB8AC3E}">
        <p14:creationId xmlns:p14="http://schemas.microsoft.com/office/powerpoint/2010/main" val="2085384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Say True or False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600" dirty="0"/>
              <a:t>P</a:t>
            </a:r>
            <a:r>
              <a:rPr lang="en-US" sz="3600" dirty="0" smtClean="0"/>
              <a:t>rimary key is always a candidate key, but not all candidate keys are primary keys.</a:t>
            </a:r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endParaRPr lang="en-US" sz="3600" dirty="0" smtClean="0"/>
          </a:p>
          <a:p>
            <a:pPr marL="0" indent="0" algn="just">
              <a:buNone/>
            </a:pPr>
            <a:endParaRPr lang="en-US" sz="3600" dirty="0"/>
          </a:p>
          <a:p>
            <a:pPr marL="0" indent="0" algn="just">
              <a:buNone/>
            </a:pPr>
            <a:r>
              <a:rPr lang="en-US" sz="3600" dirty="0" smtClean="0"/>
              <a:t>Answer: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04731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Guess the answer!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Candidate Keys: {</a:t>
            </a:r>
            <a:r>
              <a:rPr lang="en-US" sz="3600" dirty="0" err="1"/>
              <a:t>EmpID</a:t>
            </a:r>
            <a:r>
              <a:rPr lang="en-US" sz="3600" dirty="0" smtClean="0"/>
              <a:t>}, {Email}</a:t>
            </a:r>
          </a:p>
          <a:p>
            <a:r>
              <a:rPr lang="en-US" sz="3600" dirty="0" smtClean="0"/>
              <a:t>Super Keys: 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/>
              <a:t>{</a:t>
            </a:r>
            <a:r>
              <a:rPr lang="en-US" sz="3200" dirty="0" err="1"/>
              <a:t>EmpID</a:t>
            </a:r>
            <a:r>
              <a:rPr lang="en-US" sz="3200" dirty="0"/>
              <a:t>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/>
              <a:t>Email</a:t>
            </a:r>
            <a:r>
              <a:rPr lang="en-US" sz="3200" dirty="0" smtClean="0"/>
              <a:t>},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 err="1"/>
              <a:t>EmpID</a:t>
            </a:r>
            <a:r>
              <a:rPr lang="en-US" sz="3200" dirty="0"/>
              <a:t>, Name},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/>
              <a:t>Email, Name}, </a:t>
            </a:r>
            <a:endParaRPr lang="en-US" sz="3200" dirty="0" smtClean="0"/>
          </a:p>
          <a:p>
            <a:pPr lvl="1">
              <a:buFont typeface="Wingdings" panose="05000000000000000000" pitchFamily="2" charset="2"/>
              <a:buChar char="ü"/>
            </a:pPr>
            <a:r>
              <a:rPr lang="en-US" sz="3200" dirty="0" smtClean="0"/>
              <a:t>{</a:t>
            </a:r>
            <a:r>
              <a:rPr lang="en-US" sz="3200" dirty="0" err="1"/>
              <a:t>EmpID</a:t>
            </a:r>
            <a:r>
              <a:rPr lang="en-US" sz="3200" dirty="0"/>
              <a:t>, Email}, etc.</a:t>
            </a:r>
            <a:endParaRPr lang="en-US" sz="3200" dirty="0" smtClean="0"/>
          </a:p>
          <a:p>
            <a:pPr marL="0" indent="0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5405880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4. Alternate </a:t>
            </a:r>
            <a:r>
              <a:rPr lang="en-US" b="1" dirty="0" smtClean="0"/>
              <a:t>Key (Secondary key)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An alternate key is any candidate key in a table that is not chosen as the primary key.</a:t>
            </a:r>
          </a:p>
          <a:p>
            <a:pPr algn="just"/>
            <a:r>
              <a:rPr lang="en-US" dirty="0" smtClean="0"/>
              <a:t>In other words, all the keys that are </a:t>
            </a:r>
            <a:r>
              <a:rPr lang="en-US" dirty="0" smtClean="0">
                <a:solidFill>
                  <a:srgbClr val="FF0000"/>
                </a:solidFill>
              </a:rPr>
              <a:t>not selected as the primary key </a:t>
            </a:r>
            <a:r>
              <a:rPr lang="en-US" dirty="0" smtClean="0"/>
              <a:t>are considered alternate keys.</a:t>
            </a:r>
          </a:p>
          <a:p>
            <a:pPr algn="just"/>
            <a:r>
              <a:rPr lang="en-US" dirty="0" smtClean="0"/>
              <a:t>May contain one or more columns that can uniquely identify a record, but it is not the primary key.</a:t>
            </a:r>
          </a:p>
          <a:p>
            <a:pPr algn="just"/>
            <a:r>
              <a:rPr lang="en-US" dirty="0" smtClean="0"/>
              <a:t>Example: {Email}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8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" y="480060"/>
            <a:ext cx="1179576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04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b="1" dirty="0"/>
              <a:t>5. Foreign </a:t>
            </a:r>
            <a:r>
              <a:rPr lang="en-US" b="1" dirty="0" smtClean="0"/>
              <a:t>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fontAlgn="base"/>
            <a:r>
              <a:rPr lang="en-US" dirty="0"/>
              <a:t>A foreign key is an attribute in one table that refers to the primary key in another table. </a:t>
            </a:r>
            <a:endParaRPr lang="en-US" dirty="0" smtClean="0"/>
          </a:p>
          <a:p>
            <a:pPr algn="just" fontAlgn="base"/>
            <a:r>
              <a:rPr lang="en-US" dirty="0" smtClean="0"/>
              <a:t>The </a:t>
            </a:r>
            <a:r>
              <a:rPr lang="en-US" dirty="0"/>
              <a:t>table that contains the foreign key is called the referencing table and the table that is referenced is called the </a:t>
            </a:r>
            <a:r>
              <a:rPr lang="en-US" dirty="0" smtClean="0"/>
              <a:t>referenced </a:t>
            </a:r>
            <a:r>
              <a:rPr lang="en-US" dirty="0"/>
              <a:t>table</a:t>
            </a:r>
            <a:r>
              <a:rPr lang="en-US" dirty="0" smtClean="0"/>
              <a:t>.</a:t>
            </a:r>
          </a:p>
          <a:p>
            <a:pPr algn="just" fontAlgn="base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6020" y="3681254"/>
            <a:ext cx="6835139" cy="2886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77989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base"/>
            <a:r>
              <a:rPr lang="en-US" dirty="0" smtClean="0"/>
              <a:t>6. Composite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600" dirty="0" smtClean="0"/>
              <a:t>A composite key is a combination of two or more columns used together to uniquely identify a row in a table.</a:t>
            </a:r>
          </a:p>
          <a:p>
            <a:pPr algn="just"/>
            <a:r>
              <a:rPr lang="en-US" sz="3600" dirty="0"/>
              <a:t>N</a:t>
            </a:r>
            <a:r>
              <a:rPr lang="en-US" sz="3600" dirty="0" smtClean="0"/>
              <a:t>o single unique column is available.</a:t>
            </a:r>
          </a:p>
          <a:p>
            <a:pPr marL="0" indent="0" algn="just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40690064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#1: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0362837"/>
              </p:ext>
            </p:extLst>
          </p:nvPr>
        </p:nvGraphicFramePr>
        <p:xfrm>
          <a:off x="838200" y="1690688"/>
          <a:ext cx="10515600" cy="182880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/>
                        <a:t>BookID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LibraryBranchID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CopiesAvailable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LB01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LB02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B002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LB01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838200" y="4400819"/>
            <a:ext cx="105156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Neither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BookID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nor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LibraryBranchID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alone is unique.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Together, (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BookID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</a:t>
            </a: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LibraryBranchID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 form a </a:t>
            </a:r>
            <a:r>
              <a:rPr kumimoji="0" lang="en-US" altLang="en-US" sz="2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composite key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83597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#2: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2724039"/>
              </p:ext>
            </p:extLst>
          </p:nvPr>
        </p:nvGraphicFramePr>
        <p:xfrm>
          <a:off x="1089660" y="2058194"/>
          <a:ext cx="10515600" cy="20726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800" b="1"/>
                        <a:t>StudentID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/>
                        <a:t>CourseCode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/>
                        <a:t>Semester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b="1"/>
                        <a:t>Grade</a:t>
                      </a:r>
                      <a:endParaRPr lang="en-US" sz="2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S101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CSE201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Fall2025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S101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CSE202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Fall2025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S102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CSE201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/>
                        <a:t>Fall2025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sz="2800" dirty="0"/>
                        <a:t>B+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6544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7. Partial Key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partial key is a subset of a composite key that can uniquely identify a row in a </a:t>
            </a:r>
            <a:r>
              <a:rPr lang="en-US" dirty="0" smtClean="0">
                <a:solidFill>
                  <a:srgbClr val="FF0000"/>
                </a:solidFill>
              </a:rPr>
              <a:t>related (weak) entity set</a:t>
            </a:r>
            <a:r>
              <a:rPr lang="en-US" dirty="0" smtClean="0"/>
              <a:t>, but only when combined with a foreign key from a strong entity.</a:t>
            </a:r>
          </a:p>
          <a:p>
            <a:pPr algn="just"/>
            <a:r>
              <a:rPr lang="en-US" dirty="0" smtClean="0"/>
              <a:t>Example: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Strong Entity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Employee(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EmpID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Weak Entity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 Dependent(Name,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EmpID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Age)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Here, Name is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partial key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/>
            </a:r>
            <a:b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</a:b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It is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not unique globally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but </a:t>
            </a:r>
            <a:r>
              <a:rPr kumimoji="0" lang="en-US" alt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unique within the context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of an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EmpID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</a:p>
          <a:p>
            <a:pPr algn="just"/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87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4000" dirty="0"/>
              <a:t>A partial key is an attribute (or set of attributes) of a weak entity that uniquely identifies an entity only when combined with the primary key of its associated strong entity</a:t>
            </a:r>
            <a:r>
              <a:rPr lang="en-US" sz="4000" dirty="0" smtClean="0"/>
              <a:t>.</a:t>
            </a:r>
          </a:p>
          <a:p>
            <a:pPr algn="just"/>
            <a:r>
              <a:rPr lang="en-US" sz="4000" dirty="0" smtClean="0"/>
              <a:t>It is used only when there is a strong – weak entity set.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490608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4041694"/>
              </p:ext>
            </p:extLst>
          </p:nvPr>
        </p:nvGraphicFramePr>
        <p:xfrm>
          <a:off x="0" y="365125"/>
          <a:ext cx="11499272" cy="1828800"/>
        </p:xfrm>
        <a:graphic>
          <a:graphicData uri="http://schemas.openxmlformats.org/drawingml/2006/table">
            <a:tbl>
              <a:tblPr/>
              <a:tblGrid>
                <a:gridCol w="5749636"/>
                <a:gridCol w="5749636"/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 err="1"/>
                        <a:t>EmpID</a:t>
                      </a:r>
                      <a:r>
                        <a:rPr lang="en-US" sz="2400" b="1" dirty="0"/>
                        <a:t> (Primary Key)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EmployeeName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E103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30654" y="0"/>
            <a:ext cx="324890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Strong Entity: Employee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253149"/>
              </p:ext>
            </p:extLst>
          </p:nvPr>
        </p:nvGraphicFramePr>
        <p:xfrm>
          <a:off x="1946564" y="3876603"/>
          <a:ext cx="9552708" cy="2651760"/>
        </p:xfrm>
        <a:graphic>
          <a:graphicData uri="http://schemas.openxmlformats.org/drawingml/2006/table">
            <a:tbl>
              <a:tblPr/>
              <a:tblGrid>
                <a:gridCol w="2388177"/>
                <a:gridCol w="2388177"/>
                <a:gridCol w="2388177"/>
                <a:gridCol w="2388177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 err="1"/>
                        <a:t>EmpID</a:t>
                      </a:r>
                      <a:r>
                        <a:rPr lang="en-US" sz="2400" b="1" dirty="0"/>
                        <a:t> (Foreign Key)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/>
                        <a:t>Name (Partial Key)</a:t>
                      </a:r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Daughter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Son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Meera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35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Wife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838200" y="2435099"/>
            <a:ext cx="10661072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Weak Entity: Dependent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Primary Key = (</a:t>
            </a:r>
            <a:r>
              <a:rPr kumimoji="0" lang="en-US" alt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EmpID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Name)</a:t>
            </a: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2817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the “Partial”?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Name = Rahul is not unique across all employees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en-US" dirty="0" smtClean="0"/>
              <a:t>But </a:t>
            </a:r>
            <a:r>
              <a:rPr lang="en-US" dirty="0"/>
              <a:t>(</a:t>
            </a:r>
            <a:r>
              <a:rPr lang="en-US" dirty="0" err="1"/>
              <a:t>EmpID</a:t>
            </a:r>
            <a:r>
              <a:rPr lang="en-US" dirty="0"/>
              <a:t>, Name) is unique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Otherwise: </a:t>
            </a:r>
          </a:p>
          <a:p>
            <a:pPr marL="0" indent="0">
              <a:buNone/>
            </a:pPr>
            <a:r>
              <a:rPr lang="en-US" dirty="0"/>
              <a:t>Composite Primary Key of Weak Entity: (</a:t>
            </a:r>
            <a:r>
              <a:rPr lang="en-US" dirty="0" err="1"/>
              <a:t>EmpID</a:t>
            </a:r>
            <a:r>
              <a:rPr lang="en-US" dirty="0"/>
              <a:t>, Name)</a:t>
            </a:r>
          </a:p>
        </p:txBody>
      </p:sp>
    </p:spTree>
    <p:extLst>
      <p:ext uri="{BB962C8B-B14F-4D97-AF65-F5344CB8AC3E}">
        <p14:creationId xmlns:p14="http://schemas.microsoft.com/office/powerpoint/2010/main" val="38228727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60218"/>
            <a:ext cx="10515600" cy="581674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VARCHAR(10)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EmployeeName</a:t>
            </a:r>
            <a:r>
              <a:rPr lang="en-US" dirty="0"/>
              <a:t> VARCHAR(50)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TABLE Dependent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VARCHAR(10),</a:t>
            </a:r>
          </a:p>
          <a:p>
            <a:pPr marL="0" indent="0">
              <a:buNone/>
            </a:pPr>
            <a:r>
              <a:rPr lang="en-US" dirty="0"/>
              <a:t>    Name VARCHAR(50),</a:t>
            </a:r>
          </a:p>
          <a:p>
            <a:pPr marL="0" indent="0">
              <a:buNone/>
            </a:pPr>
            <a:r>
              <a:rPr lang="en-US" dirty="0"/>
              <a:t>    Age INT,</a:t>
            </a:r>
          </a:p>
          <a:p>
            <a:pPr marL="0" indent="0">
              <a:buNone/>
            </a:pPr>
            <a:r>
              <a:rPr lang="en-US" dirty="0"/>
              <a:t>    Relationship VARCHAR(20),</a:t>
            </a:r>
          </a:p>
          <a:p>
            <a:pPr marL="0" indent="0">
              <a:buNone/>
            </a:pPr>
            <a:r>
              <a:rPr lang="en-US" dirty="0"/>
              <a:t>    PRIMARY KEY (</a:t>
            </a:r>
            <a:r>
              <a:rPr lang="en-US" dirty="0" err="1"/>
              <a:t>EmpID</a:t>
            </a:r>
            <a:r>
              <a:rPr lang="en-US" dirty="0"/>
              <a:t>, Name</a:t>
            </a:r>
            <a:r>
              <a:rPr lang="en-US" dirty="0" smtClean="0"/>
              <a:t>), </a:t>
            </a:r>
            <a:r>
              <a:rPr lang="en-US" dirty="0" smtClean="0">
                <a:solidFill>
                  <a:srgbClr val="FF0000"/>
                </a:solidFill>
              </a:rPr>
              <a:t># Partial key 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    FOREIGN KEY (</a:t>
            </a:r>
            <a:r>
              <a:rPr lang="en-US" dirty="0" err="1"/>
              <a:t>EmpID</a:t>
            </a:r>
            <a:r>
              <a:rPr lang="en-US" dirty="0"/>
              <a:t>) REFERENCES Employee(</a:t>
            </a:r>
            <a:r>
              <a:rPr lang="en-US" dirty="0" err="1"/>
              <a:t>EmpID</a:t>
            </a:r>
            <a:r>
              <a:rPr lang="en-US" dirty="0" smtClean="0"/>
              <a:t>) </a:t>
            </a:r>
            <a:r>
              <a:rPr lang="en-US" dirty="0" smtClean="0">
                <a:solidFill>
                  <a:srgbClr val="FF0000"/>
                </a:solidFill>
              </a:rPr>
              <a:t># Foreign Key</a:t>
            </a:r>
            <a:endParaRPr 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dirty="0"/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2552462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8. Surrogate Key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surrogate key is a system-generated unique identifier (like an auto-increment number) used as a primary key, especially when no natural key is suitable.</a:t>
            </a:r>
            <a:endParaRPr lang="en-US" dirty="0"/>
          </a:p>
          <a:p>
            <a:pPr algn="just"/>
            <a:r>
              <a:rPr lang="en-US" dirty="0" smtClean="0"/>
              <a:t>Example:</a:t>
            </a:r>
          </a:p>
          <a:p>
            <a:pPr marL="0" indent="0" algn="just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1444065"/>
              </p:ext>
            </p:extLst>
          </p:nvPr>
        </p:nvGraphicFramePr>
        <p:xfrm>
          <a:off x="1203960" y="4001294"/>
          <a:ext cx="10515600" cy="1737360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dirty="0"/>
                        <a:t>ID (Surrogate Key)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John Doe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>
                          <a:hlinkClick r:id="rId2"/>
                        </a:rPr>
                        <a:t>john@example.com</a:t>
                      </a:r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20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Jane Smith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hlinkClick r:id="rId3"/>
                        </a:rPr>
                        <a:t>jane@example.com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7589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Oracle 12c+ versions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employees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emp_id</a:t>
            </a:r>
            <a:r>
              <a:rPr lang="en-US" dirty="0"/>
              <a:t> NUMBER </a:t>
            </a:r>
            <a:r>
              <a:rPr lang="en-US" dirty="0">
                <a:solidFill>
                  <a:srgbClr val="FF0000"/>
                </a:solidFill>
              </a:rPr>
              <a:t>GENERATED ALWAYS AS IDENTITY</a:t>
            </a:r>
            <a:r>
              <a:rPr lang="en-US" dirty="0"/>
              <a:t> PRIMARY KEY,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emp_name</a:t>
            </a:r>
            <a:r>
              <a:rPr lang="en-US" dirty="0"/>
              <a:t> VARCHAR2(100),</a:t>
            </a:r>
          </a:p>
          <a:p>
            <a:pPr marL="0" indent="0">
              <a:buNone/>
            </a:pPr>
            <a:r>
              <a:rPr lang="en-US" dirty="0"/>
              <a:t>    department VARCHAR2(50)</a:t>
            </a:r>
          </a:p>
          <a:p>
            <a:pPr marL="0" indent="0">
              <a:buNone/>
            </a:pPr>
            <a:r>
              <a:rPr lang="en-US" dirty="0"/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358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MYSQL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CREATE TABLE employees (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emp_id</a:t>
            </a:r>
            <a:r>
              <a:rPr lang="en-US" dirty="0" smtClean="0"/>
              <a:t> INT </a:t>
            </a:r>
            <a:r>
              <a:rPr lang="en-US" dirty="0" smtClean="0">
                <a:solidFill>
                  <a:srgbClr val="FF0000"/>
                </a:solidFill>
              </a:rPr>
              <a:t>AUTO_INCREMENT</a:t>
            </a:r>
            <a:r>
              <a:rPr lang="en-US" dirty="0" smtClean="0"/>
              <a:t> PRIMARY KEY,</a:t>
            </a:r>
          </a:p>
          <a:p>
            <a:pPr marL="0" indent="0">
              <a:buNone/>
            </a:pPr>
            <a:r>
              <a:rPr lang="en-US" dirty="0" smtClean="0"/>
              <a:t>    name VARCHAR(100),</a:t>
            </a:r>
          </a:p>
          <a:p>
            <a:pPr marL="0" indent="0">
              <a:buNone/>
            </a:pPr>
            <a:r>
              <a:rPr lang="en-US" dirty="0" smtClean="0"/>
              <a:t>    department VARCHAR(50)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r>
              <a:rPr lang="en-US" dirty="0" err="1" smtClean="0"/>
              <a:t>emp_id</a:t>
            </a:r>
            <a:r>
              <a:rPr lang="en-US" dirty="0" smtClean="0"/>
              <a:t> is the surrogate key</a:t>
            </a:r>
          </a:p>
          <a:p>
            <a:pPr marL="0" indent="0">
              <a:buNone/>
            </a:pPr>
            <a:r>
              <a:rPr lang="en-US" dirty="0" smtClean="0"/>
              <a:t>It will automatically increment with each inserted row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-323165"/>
            <a:ext cx="18473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435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Oracle 9i version(Using SEQUENCE)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CREATE TABLE Employee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EmpID</a:t>
            </a:r>
            <a:r>
              <a:rPr lang="en-US" dirty="0"/>
              <a:t> NUMBER </a:t>
            </a:r>
            <a:r>
              <a:rPr lang="en-US" dirty="0">
                <a:solidFill>
                  <a:srgbClr val="FF0000"/>
                </a:solidFill>
              </a:rPr>
              <a:t>PRIMARY KEY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EmpName</a:t>
            </a:r>
            <a:r>
              <a:rPr lang="en-US" dirty="0"/>
              <a:t> VARCHAR2(50),</a:t>
            </a:r>
          </a:p>
          <a:p>
            <a:pPr marL="0" indent="0">
              <a:buNone/>
            </a:pPr>
            <a:r>
              <a:rPr lang="en-US" dirty="0"/>
              <a:t>    Salary NUMBER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</a:p>
          <a:p>
            <a:pPr marL="0" indent="0">
              <a:buNone/>
            </a:pPr>
            <a:r>
              <a:rPr lang="en-US" dirty="0" smtClean="0"/>
              <a:t>-- Create </a:t>
            </a:r>
            <a:r>
              <a:rPr lang="en-US" dirty="0"/>
              <a:t>a </a:t>
            </a:r>
            <a:r>
              <a:rPr lang="en-US" dirty="0" smtClean="0"/>
              <a:t>sequence</a:t>
            </a:r>
          </a:p>
          <a:p>
            <a:pPr marL="0" indent="0">
              <a:buNone/>
            </a:pPr>
            <a:r>
              <a:rPr lang="en-US" dirty="0" smtClean="0"/>
              <a:t>CREATE </a:t>
            </a:r>
            <a:r>
              <a:rPr lang="en-US" dirty="0"/>
              <a:t>SEQUENCE </a:t>
            </a:r>
            <a:r>
              <a:rPr lang="en-US" dirty="0" err="1" smtClean="0"/>
              <a:t>Emp_Seq</a:t>
            </a:r>
            <a:r>
              <a:rPr lang="en-US" dirty="0" smtClean="0"/>
              <a:t> START </a:t>
            </a:r>
            <a:r>
              <a:rPr lang="en-US" dirty="0"/>
              <a:t>WITH </a:t>
            </a:r>
            <a:r>
              <a:rPr lang="en-US" dirty="0" smtClean="0"/>
              <a:t>1 INCREMENT </a:t>
            </a:r>
            <a:r>
              <a:rPr lang="en-US" dirty="0"/>
              <a:t>BY </a:t>
            </a:r>
            <a:r>
              <a:rPr lang="en-US" dirty="0" smtClean="0"/>
              <a:t>1;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5972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smtClean="0"/>
              <a:t>Employee VALUES </a:t>
            </a:r>
            <a:r>
              <a:rPr lang="en-US" dirty="0"/>
              <a:t>(</a:t>
            </a:r>
            <a:r>
              <a:rPr lang="en-US" dirty="0" err="1"/>
              <a:t>Emp_Seq.NEXTVAL</a:t>
            </a:r>
            <a:r>
              <a:rPr lang="en-US" dirty="0"/>
              <a:t>, 'John', 50000);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INSERT INTO </a:t>
            </a:r>
            <a:r>
              <a:rPr lang="en-US" dirty="0" smtClean="0"/>
              <a:t>Employee V</a:t>
            </a:r>
          </a:p>
          <a:p>
            <a:pPr marL="0" indent="0">
              <a:buNone/>
            </a:pPr>
            <a:r>
              <a:rPr lang="en-US" dirty="0" smtClean="0"/>
              <a:t>ALUES </a:t>
            </a:r>
            <a:r>
              <a:rPr lang="en-US" dirty="0"/>
              <a:t>(</a:t>
            </a:r>
            <a:r>
              <a:rPr lang="en-US" dirty="0" err="1"/>
              <a:t>Emp_Seq.NEXTVAL</a:t>
            </a:r>
            <a:r>
              <a:rPr lang="en-US" dirty="0"/>
              <a:t>, 'Alice', 60000);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020244"/>
              </p:ext>
            </p:extLst>
          </p:nvPr>
        </p:nvGraphicFramePr>
        <p:xfrm>
          <a:off x="838200" y="4380909"/>
          <a:ext cx="10515600" cy="1631964"/>
        </p:xfrm>
        <a:graphic>
          <a:graphicData uri="http://schemas.openxmlformats.org/drawingml/2006/table">
            <a:tbl>
              <a:tblPr/>
              <a:tblGrid>
                <a:gridCol w="3505200"/>
                <a:gridCol w="3505200"/>
                <a:gridCol w="3505200"/>
              </a:tblGrid>
              <a:tr h="543988">
                <a:tc>
                  <a:txBody>
                    <a:bodyPr/>
                    <a:lstStyle/>
                    <a:p>
                      <a:r>
                        <a:rPr lang="en-US"/>
                        <a:t>EmpID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EmpName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3988">
                <a:tc>
                  <a:txBody>
                    <a:bodyPr/>
                    <a:lstStyle/>
                    <a:p>
                      <a:r>
                        <a:rPr lang="en-US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43988">
                <a:tc>
                  <a:txBody>
                    <a:bodyPr/>
                    <a:lstStyle/>
                    <a:p>
                      <a:r>
                        <a:rPr lang="en-US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7544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B050"/>
                </a:solidFill>
              </a:rPr>
              <a:t>Surrogate Key as the Primary Key (Recommended)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CREATE TABLE employees (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emp_id</a:t>
            </a:r>
            <a:r>
              <a:rPr lang="en-US" dirty="0" smtClean="0"/>
              <a:t> INT AUTO_INCREMENT PRIMARY KEY,     -- surrogate key</a:t>
            </a:r>
          </a:p>
          <a:p>
            <a:pPr marL="0" indent="0">
              <a:buNone/>
            </a:pPr>
            <a:r>
              <a:rPr lang="en-US" dirty="0" smtClean="0"/>
              <a:t>    email VARCHAR(100) UNIQUE,                                -- natural key</a:t>
            </a:r>
          </a:p>
          <a:p>
            <a:pPr marL="0" indent="0">
              <a:buNone/>
            </a:pPr>
            <a:r>
              <a:rPr lang="en-US" dirty="0" smtClean="0"/>
              <a:t>    name VARCHAR(100)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15199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Interpret?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CREATE TABLE employees (</a:t>
            </a:r>
          </a:p>
          <a:p>
            <a:pPr marL="0" indent="0">
              <a:buNone/>
            </a:pPr>
            <a:r>
              <a:rPr lang="en-US" dirty="0" smtClean="0"/>
              <a:t>    email VARCHAR(100) PRIMARY KEY,            -- natural key</a:t>
            </a:r>
          </a:p>
          <a:p>
            <a:pPr marL="0" indent="0">
              <a:buNone/>
            </a:pPr>
            <a:r>
              <a:rPr lang="en-US" dirty="0" smtClean="0"/>
              <a:t>    </a:t>
            </a:r>
            <a:r>
              <a:rPr lang="en-US" dirty="0" err="1" smtClean="0"/>
              <a:t>emp_id</a:t>
            </a:r>
            <a:r>
              <a:rPr lang="en-US" dirty="0" smtClean="0"/>
              <a:t> INT AUTO_INCREMENT UNIQUE,          -- surrogate key (not   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primary)</a:t>
            </a:r>
          </a:p>
          <a:p>
            <a:pPr marL="0" indent="0">
              <a:buNone/>
            </a:pPr>
            <a:r>
              <a:rPr lang="en-US" dirty="0" smtClean="0"/>
              <a:t>    name VARCHAR(100)</a:t>
            </a:r>
          </a:p>
          <a:p>
            <a:pPr marL="0" indent="0">
              <a:buNone/>
            </a:pPr>
            <a:r>
              <a:rPr lang="en-US" dirty="0" smtClean="0"/>
              <a:t>);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716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b="1" dirty="0" smtClean="0"/>
              <a:t>Downside</a:t>
            </a:r>
            <a:r>
              <a:rPr lang="en-US" sz="3200" dirty="0" smtClean="0"/>
              <a:t>: </a:t>
            </a:r>
          </a:p>
          <a:p>
            <a:pPr marL="0" indent="0" algn="just">
              <a:buNone/>
            </a:pPr>
            <a:r>
              <a:rPr lang="en-US" sz="3200" dirty="0"/>
              <a:t>	</a:t>
            </a:r>
            <a:r>
              <a:rPr lang="en-US" sz="3200" dirty="0" smtClean="0"/>
              <a:t>Surrogate key loses its benefits unless it's the actual primary key.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86200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Final Advice!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3200" dirty="0" smtClean="0"/>
              <a:t>Use </a:t>
            </a:r>
            <a:r>
              <a:rPr lang="en-US" sz="3200" b="1" dirty="0" smtClean="0"/>
              <a:t>surrogate key as the primary key</a:t>
            </a:r>
            <a:r>
              <a:rPr lang="en-US" sz="3200" dirty="0" smtClean="0"/>
              <a:t> if:</a:t>
            </a:r>
          </a:p>
          <a:p>
            <a:pPr algn="just"/>
            <a:r>
              <a:rPr lang="en-US" sz="3200" dirty="0" smtClean="0"/>
              <a:t>You want abstraction from business logic</a:t>
            </a:r>
          </a:p>
          <a:p>
            <a:pPr algn="just"/>
            <a:r>
              <a:rPr lang="en-US" sz="3200" dirty="0" smtClean="0"/>
              <a:t>You need performance, flexibility</a:t>
            </a:r>
          </a:p>
          <a:p>
            <a:pPr algn="just"/>
            <a:r>
              <a:rPr lang="en-US" sz="3200" dirty="0" smtClean="0"/>
              <a:t>Your natural keys may change, are long strings, or expose sensitive data.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31613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Secondary Key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/>
              <a:t>A Secondary Key is an attribute or a combination of attributes that is used for searching or retrieving records, but does not uniquely identify each row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A Secondary Key is a non-unique attribute (or set of attributes) used to improve data retrieval based on common search criteria.</a:t>
            </a:r>
            <a:endParaRPr lang="en-US" dirty="0" smtClean="0"/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1085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283685"/>
              </p:ext>
            </p:extLst>
          </p:nvPr>
        </p:nvGraphicFramePr>
        <p:xfrm>
          <a:off x="838200" y="365125"/>
          <a:ext cx="10515600" cy="3200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EmpID</a:t>
                      </a:r>
                      <a:r>
                        <a:rPr lang="en-US" sz="2400" dirty="0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65000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8199" y="4047989"/>
            <a:ext cx="10730345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Example:</a:t>
            </a:r>
          </a:p>
          <a:p>
            <a:r>
              <a:rPr lang="en-US" sz="3200" dirty="0" smtClean="0"/>
              <a:t>Primary </a:t>
            </a:r>
            <a:r>
              <a:rPr lang="en-US" sz="3200" dirty="0"/>
              <a:t>Key: </a:t>
            </a:r>
            <a:r>
              <a:rPr lang="en-US" sz="3200" dirty="0" err="1"/>
              <a:t>EmpID</a:t>
            </a:r>
            <a:r>
              <a:rPr lang="en-US" sz="3200" dirty="0"/>
              <a:t> (uniquely identifies each employee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Secondary </a:t>
            </a:r>
            <a:r>
              <a:rPr lang="en-US" sz="3200" dirty="0"/>
              <a:t>Key: </a:t>
            </a:r>
            <a:r>
              <a:rPr lang="en-US" sz="3200" dirty="0" smtClean="0"/>
              <a:t>Department</a:t>
            </a:r>
          </a:p>
          <a:p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value IT appears for multiple employees, so it is not unique</a:t>
            </a:r>
          </a:p>
        </p:txBody>
      </p:sp>
    </p:spTree>
    <p:extLst>
      <p:ext uri="{BB962C8B-B14F-4D97-AF65-F5344CB8AC3E}">
        <p14:creationId xmlns:p14="http://schemas.microsoft.com/office/powerpoint/2010/main" val="39183694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i="1" dirty="0"/>
              <a:t>SELECT</a:t>
            </a:r>
            <a:r>
              <a:rPr lang="en-US" sz="3200" dirty="0"/>
              <a:t> * FROM Employee WHERE Department = 'IT</a:t>
            </a:r>
            <a:r>
              <a:rPr lang="en-US" sz="3200" dirty="0" smtClean="0"/>
              <a:t>';</a:t>
            </a:r>
            <a:br>
              <a:rPr lang="en-US" sz="3200" dirty="0" smtClean="0"/>
            </a:br>
            <a:r>
              <a:rPr lang="en-US" sz="3200" dirty="0" smtClean="0"/>
              <a:t> -- Secondary key = Department</a:t>
            </a:r>
            <a:endParaRPr lang="en-US" sz="32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09495269"/>
              </p:ext>
            </p:extLst>
          </p:nvPr>
        </p:nvGraphicFramePr>
        <p:xfrm>
          <a:off x="1212273" y="2053345"/>
          <a:ext cx="10515600" cy="192024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600" dirty="0" err="1"/>
                        <a:t>EmpID</a:t>
                      </a:r>
                      <a:endParaRPr lang="en-US" sz="3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>
                          <a:solidFill>
                            <a:srgbClr val="FF0000"/>
                          </a:solidFill>
                        </a:rPr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3600"/>
                        <a:t>E103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0935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711544"/>
              </p:ext>
            </p:extLst>
          </p:nvPr>
        </p:nvGraphicFramePr>
        <p:xfrm>
          <a:off x="838200" y="365125"/>
          <a:ext cx="10515600" cy="320040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dirty="0" err="1"/>
                        <a:t>EmpID</a:t>
                      </a:r>
                      <a:r>
                        <a:rPr lang="en-US" sz="2400" dirty="0"/>
                        <a:t> (PK)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John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50000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/>
                        <a:t>E103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David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55000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Priya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HR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52000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/>
                        <a:t>E105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Rahul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Finance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65000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E106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Bob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IT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60000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38199" y="4047989"/>
            <a:ext cx="1073034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 smtClean="0"/>
              <a:t>Example:</a:t>
            </a:r>
          </a:p>
          <a:p>
            <a:r>
              <a:rPr lang="en-US" sz="3200" dirty="0" smtClean="0"/>
              <a:t>Primary </a:t>
            </a:r>
            <a:r>
              <a:rPr lang="en-US" sz="3200" dirty="0"/>
              <a:t>Key: </a:t>
            </a:r>
            <a:r>
              <a:rPr lang="en-US" sz="3200" dirty="0" err="1"/>
              <a:t>EmpID</a:t>
            </a:r>
            <a:r>
              <a:rPr lang="en-US" sz="3200" dirty="0"/>
              <a:t> (uniquely identifies each employee</a:t>
            </a:r>
            <a:r>
              <a:rPr lang="en-US" sz="3200" dirty="0" smtClean="0"/>
              <a:t>)</a:t>
            </a:r>
          </a:p>
          <a:p>
            <a:r>
              <a:rPr lang="en-US" sz="3200" dirty="0" smtClean="0"/>
              <a:t>Secondary </a:t>
            </a:r>
            <a:r>
              <a:rPr lang="en-US" sz="3200" dirty="0"/>
              <a:t>Key: </a:t>
            </a:r>
            <a:r>
              <a:rPr lang="en-US" sz="3200" dirty="0" smtClean="0"/>
              <a:t>Department and Salary</a:t>
            </a:r>
          </a:p>
          <a:p>
            <a:endParaRPr lang="en-US" sz="3200" dirty="0" smtClean="0"/>
          </a:p>
          <a:p>
            <a:r>
              <a:rPr lang="en-US" sz="3200" dirty="0" smtClean="0"/>
              <a:t>The </a:t>
            </a:r>
            <a:r>
              <a:rPr lang="en-US" sz="3200" dirty="0"/>
              <a:t>value IT </a:t>
            </a:r>
            <a:r>
              <a:rPr lang="en-US" sz="3200" dirty="0" smtClean="0"/>
              <a:t>and Salary appears </a:t>
            </a:r>
            <a:r>
              <a:rPr lang="en-US" sz="3200" dirty="0"/>
              <a:t>for multiple employees, so it is not unique</a:t>
            </a:r>
          </a:p>
        </p:txBody>
      </p:sp>
    </p:spTree>
    <p:extLst>
      <p:ext uri="{BB962C8B-B14F-4D97-AF65-F5344CB8AC3E}">
        <p14:creationId xmlns:p14="http://schemas.microsoft.com/office/powerpoint/2010/main" val="78839323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2272" y="1376507"/>
            <a:ext cx="10515600" cy="1325563"/>
          </a:xfrm>
        </p:spPr>
        <p:txBody>
          <a:bodyPr>
            <a:noAutofit/>
          </a:bodyPr>
          <a:lstStyle/>
          <a:p>
            <a:r>
              <a:rPr lang="en-US" sz="3200" b="1" i="1" dirty="0"/>
              <a:t>SELECT</a:t>
            </a:r>
            <a:r>
              <a:rPr lang="en-US" sz="3200" dirty="0"/>
              <a:t> * FROM Employee WHERE Department = 'IT‘ and Salary </a:t>
            </a:r>
            <a:r>
              <a:rPr lang="en-US" sz="3200" dirty="0" smtClean="0"/>
              <a:t>&gt;=60000; -- Composite Secondary key = Department and Salary</a:t>
            </a:r>
            <a:br>
              <a:rPr lang="en-US" sz="3200" dirty="0" smtClean="0"/>
            </a:br>
            <a:endParaRPr lang="en-US" sz="32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80776980"/>
              </p:ext>
            </p:extLst>
          </p:nvPr>
        </p:nvGraphicFramePr>
        <p:xfrm>
          <a:off x="1378527" y="3508072"/>
          <a:ext cx="10515600" cy="2194560"/>
        </p:xfrm>
        <a:graphic>
          <a:graphicData uri="http://schemas.openxmlformats.org/drawingml/2006/table">
            <a:tbl>
              <a:tblPr/>
              <a:tblGrid>
                <a:gridCol w="2628900"/>
                <a:gridCol w="2628900"/>
                <a:gridCol w="2628900"/>
                <a:gridCol w="26289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3200" dirty="0" err="1"/>
                        <a:t>EmpID</a:t>
                      </a:r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/>
                        <a:t>Name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Department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3200" dirty="0">
                          <a:solidFill>
                            <a:srgbClr val="FF0000"/>
                          </a:solidFill>
                        </a:rPr>
                        <a:t>Salary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/>
                        <a:t>E102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Alice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60000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E106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Bob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IT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800" dirty="0" smtClean="0"/>
                        <a:t>60000</a:t>
                      </a:r>
                      <a:endParaRPr lang="en-US" sz="2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sz="32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15680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1449</Words>
  <Application>Microsoft Office PowerPoint</Application>
  <PresentationFormat>Widescreen</PresentationFormat>
  <Paragraphs>340</Paragraphs>
  <Slides>38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Tahoma</vt:lpstr>
      <vt:lpstr>Wingdings</vt:lpstr>
      <vt:lpstr>Office Theme</vt:lpstr>
      <vt:lpstr>MODULE - 2</vt:lpstr>
      <vt:lpstr>Keys in Relational Database</vt:lpstr>
      <vt:lpstr>PowerPoint Presentation</vt:lpstr>
      <vt:lpstr>Significance of Keys</vt:lpstr>
      <vt:lpstr>1. Super Key</vt:lpstr>
      <vt:lpstr>2. Candidate Key</vt:lpstr>
      <vt:lpstr>Guess the answer!</vt:lpstr>
      <vt:lpstr>Guess the answer!</vt:lpstr>
      <vt:lpstr>Points to Recall!</vt:lpstr>
      <vt:lpstr>3. Primary Key</vt:lpstr>
      <vt:lpstr>PowerPoint Presentation</vt:lpstr>
      <vt:lpstr>Say True or False</vt:lpstr>
      <vt:lpstr>Guess the answer!</vt:lpstr>
      <vt:lpstr>4. Alternate Key (Secondary key)</vt:lpstr>
      <vt:lpstr>PowerPoint Presentation</vt:lpstr>
      <vt:lpstr>5. Foreign Key</vt:lpstr>
      <vt:lpstr>6. Composite Key</vt:lpstr>
      <vt:lpstr>Example #1:</vt:lpstr>
      <vt:lpstr>Example #2:</vt:lpstr>
      <vt:lpstr>7. Partial Key</vt:lpstr>
      <vt:lpstr>PowerPoint Presentation</vt:lpstr>
      <vt:lpstr>PowerPoint Presentation</vt:lpstr>
      <vt:lpstr>Why the “Partial”?</vt:lpstr>
      <vt:lpstr>PowerPoint Presentation</vt:lpstr>
      <vt:lpstr>8. Surrogate Key</vt:lpstr>
      <vt:lpstr>In Oracle 12c+ versions</vt:lpstr>
      <vt:lpstr>In MYSQL</vt:lpstr>
      <vt:lpstr>In Oracle 9i version(Using SEQUENCE)</vt:lpstr>
      <vt:lpstr>PowerPoint Presentation</vt:lpstr>
      <vt:lpstr>Surrogate Key as the Primary Key (Recommended)</vt:lpstr>
      <vt:lpstr>Interpret? </vt:lpstr>
      <vt:lpstr>PowerPoint Presentation</vt:lpstr>
      <vt:lpstr>Final Advice!</vt:lpstr>
      <vt:lpstr>Secondary Key</vt:lpstr>
      <vt:lpstr>PowerPoint Presentation</vt:lpstr>
      <vt:lpstr>SELECT * FROM Employee WHERE Department = 'IT';  -- Secondary key = Department</vt:lpstr>
      <vt:lpstr>PowerPoint Presentation</vt:lpstr>
      <vt:lpstr>SELECT * FROM Employee WHERE Department = 'IT‘ and Salary &gt;=60000; -- Composite Secondary key = Department and Salary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Deepika</dc:creator>
  <cp:lastModifiedBy>Deepika</cp:lastModifiedBy>
  <cp:revision>68</cp:revision>
  <dcterms:created xsi:type="dcterms:W3CDTF">2025-07-21T09:57:13Z</dcterms:created>
  <dcterms:modified xsi:type="dcterms:W3CDTF">2026-07-20T05:23:58Z</dcterms:modified>
</cp:coreProperties>
</file>